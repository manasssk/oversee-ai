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2" r:id="rId3"/>
    <p:sldId id="257" r:id="rId4"/>
    <p:sldId id="265" r:id="rId5"/>
    <p:sldId id="259" r:id="rId6"/>
    <p:sldId id="260" r:id="rId7"/>
    <p:sldId id="261" r:id="rId8"/>
    <p:sldId id="263" r:id="rId9"/>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33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262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646842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1603141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1492433" y="1726757"/>
            <a:ext cx="7556421" cy="1417677"/>
          </a:xfrm>
          <a:prstGeom prst="rect">
            <a:avLst/>
          </a:prstGeom>
          <a:noFill/>
          <a:ln/>
        </p:spPr>
        <p:txBody>
          <a:bodyPr wrap="none" lIns="0" tIns="0" rIns="0" bIns="0" rtlCol="0" anchor="t"/>
          <a:lstStyle/>
          <a:p>
            <a:pPr algn="just">
              <a:lnSpc>
                <a:spcPts val="11150"/>
              </a:lnSpc>
            </a:pPr>
            <a:r>
              <a:rPr lang="en-US" sz="9600" b="1" dirty="0">
                <a:solidFill>
                  <a:srgbClr val="000000"/>
                </a:solidFill>
                <a:latin typeface="Inter Bold" pitchFamily="34" charset="0"/>
                <a:ea typeface="Inter Bold" pitchFamily="34" charset="-122"/>
                <a:cs typeface="Inter Bold" pitchFamily="34" charset="-120"/>
              </a:rPr>
              <a:t>OverSeer.AI</a:t>
            </a:r>
            <a:endParaRPr lang="en-US" sz="8900" dirty="0"/>
          </a:p>
        </p:txBody>
      </p:sp>
      <p:sp>
        <p:nvSpPr>
          <p:cNvPr id="4" name="Text 1"/>
          <p:cNvSpPr/>
          <p:nvPr/>
        </p:nvSpPr>
        <p:spPr>
          <a:xfrm>
            <a:off x="701323" y="3547824"/>
            <a:ext cx="7556421" cy="1133951"/>
          </a:xfrm>
          <a:prstGeom prst="rect">
            <a:avLst/>
          </a:prstGeom>
          <a:noFill/>
          <a:ln/>
        </p:spPr>
        <p:txBody>
          <a:bodyPr wrap="square" lIns="0" tIns="0" rIns="0" bIns="0" rtlCol="0" anchor="t"/>
          <a:lstStyle/>
          <a:p>
            <a:pPr marL="0" indent="0" algn="ctr">
              <a:lnSpc>
                <a:spcPts val="4450"/>
              </a:lnSpc>
              <a:buNone/>
            </a:pPr>
            <a:r>
              <a:rPr lang="en-US" sz="3550" b="1" dirty="0">
                <a:solidFill>
                  <a:srgbClr val="000000"/>
                </a:solidFill>
                <a:latin typeface="Inter Bold" pitchFamily="34" charset="0"/>
                <a:ea typeface="Inter Bold" pitchFamily="34" charset="-122"/>
                <a:cs typeface="Inter Bold" pitchFamily="34" charset="-120"/>
              </a:rPr>
              <a:t>The Personalized Web Extension Inside Your Browser</a:t>
            </a:r>
            <a:endParaRPr lang="en-US" sz="3550" dirty="0"/>
          </a:p>
        </p:txBody>
      </p:sp>
      <p:sp>
        <p:nvSpPr>
          <p:cNvPr id="6" name="TextBox 5">
            <a:extLst>
              <a:ext uri="{FF2B5EF4-FFF2-40B4-BE49-F238E27FC236}">
                <a16:creationId xmlns:a16="http://schemas.microsoft.com/office/drawing/2014/main" id="{91740E28-F609-224F-5565-CAABB1935631}"/>
              </a:ext>
            </a:extLst>
          </p:cNvPr>
          <p:cNvSpPr txBox="1"/>
          <p:nvPr/>
        </p:nvSpPr>
        <p:spPr>
          <a:xfrm>
            <a:off x="1841755" y="4854332"/>
            <a:ext cx="5948737" cy="461665"/>
          </a:xfrm>
          <a:prstGeom prst="rect">
            <a:avLst/>
          </a:prstGeom>
          <a:noFill/>
        </p:spPr>
        <p:txBody>
          <a:bodyPr wrap="square" rtlCol="0">
            <a:spAutoFit/>
          </a:bodyPr>
          <a:lstStyle/>
          <a:p>
            <a:pPr algn="just"/>
            <a:r>
              <a:rPr lang="en-IN" sz="2400" b="1" dirty="0">
                <a:latin typeface="Bahnschrift" panose="020B0502040204020203" pitchFamily="34" charset="0"/>
                <a:cs typeface="Times New Roman" panose="02020603050405020304" pitchFamily="18" charset="0"/>
              </a:rPr>
              <a:t>Under the guidance of Dr. Sumit Hazra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9E1053D-5999-8850-370E-DDF83912CCD5}"/>
              </a:ext>
            </a:extLst>
          </p:cNvPr>
          <p:cNvGraphicFramePr>
            <a:graphicFrameLocks noGrp="1"/>
          </p:cNvGraphicFramePr>
          <p:nvPr/>
        </p:nvGraphicFramePr>
        <p:xfrm>
          <a:off x="2272301" y="2558835"/>
          <a:ext cx="9900864" cy="2660437"/>
        </p:xfrm>
        <a:graphic>
          <a:graphicData uri="http://schemas.openxmlformats.org/drawingml/2006/table">
            <a:tbl>
              <a:tblPr firstRow="1" bandRow="1">
                <a:tableStyleId>{2D5ABB26-0587-4C30-8999-92F81FD0307C}</a:tableStyleId>
              </a:tblPr>
              <a:tblGrid>
                <a:gridCol w="4950432">
                  <a:extLst>
                    <a:ext uri="{9D8B030D-6E8A-4147-A177-3AD203B41FA5}">
                      <a16:colId xmlns:a16="http://schemas.microsoft.com/office/drawing/2014/main" val="3565927650"/>
                    </a:ext>
                  </a:extLst>
                </a:gridCol>
                <a:gridCol w="4950432">
                  <a:extLst>
                    <a:ext uri="{9D8B030D-6E8A-4147-A177-3AD203B41FA5}">
                      <a16:colId xmlns:a16="http://schemas.microsoft.com/office/drawing/2014/main" val="3585032987"/>
                    </a:ext>
                  </a:extLst>
                </a:gridCol>
              </a:tblGrid>
              <a:tr h="656976">
                <a:tc>
                  <a:txBody>
                    <a:bodyPr/>
                    <a:lstStyle/>
                    <a:p>
                      <a:r>
                        <a:rPr lang="en-IN" sz="3200" dirty="0">
                          <a:latin typeface="Times New Roman" panose="02020603050405020304" pitchFamily="18" charset="0"/>
                          <a:cs typeface="Times New Roman" panose="02020603050405020304" pitchFamily="18" charset="0"/>
                        </a:rPr>
                        <a:t>2310030076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3200" dirty="0">
                          <a:latin typeface="Times New Roman" panose="02020603050405020304" pitchFamily="18" charset="0"/>
                          <a:cs typeface="Times New Roman" panose="02020603050405020304" pitchFamily="18" charset="0"/>
                        </a:rPr>
                        <a:t>Manasa Krishna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6426853"/>
                  </a:ext>
                </a:extLst>
              </a:tr>
              <a:tr h="698643">
                <a:tc>
                  <a:txBody>
                    <a:bodyPr/>
                    <a:lstStyle/>
                    <a:p>
                      <a:r>
                        <a:rPr lang="en-IN" sz="3200" dirty="0">
                          <a:latin typeface="Times New Roman" panose="02020603050405020304" pitchFamily="18" charset="0"/>
                          <a:cs typeface="Times New Roman" panose="02020603050405020304" pitchFamily="18" charset="0"/>
                        </a:rPr>
                        <a:t>2310030431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3200" dirty="0">
                          <a:latin typeface="Times New Roman" panose="02020603050405020304" pitchFamily="18" charset="0"/>
                          <a:cs typeface="Times New Roman" panose="02020603050405020304" pitchFamily="18" charset="0"/>
                        </a:rPr>
                        <a:t>Praneeth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4340977"/>
                  </a:ext>
                </a:extLst>
              </a:tr>
              <a:tr h="585627">
                <a:tc>
                  <a:txBody>
                    <a:bodyPr/>
                    <a:lstStyle/>
                    <a:p>
                      <a:r>
                        <a:rPr lang="en-IN" sz="3200" dirty="0">
                          <a:latin typeface="Times New Roman" panose="02020603050405020304" pitchFamily="18" charset="0"/>
                          <a:cs typeface="Times New Roman" panose="02020603050405020304" pitchFamily="18" charset="0"/>
                        </a:rPr>
                        <a:t>2310030272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3200" dirty="0">
                          <a:latin typeface="Times New Roman" panose="02020603050405020304" pitchFamily="18" charset="0"/>
                          <a:cs typeface="Times New Roman" panose="02020603050405020304" pitchFamily="18" charset="0"/>
                        </a:rPr>
                        <a:t>Yeshwanth Sunkara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5082334"/>
                  </a:ext>
                </a:extLst>
              </a:tr>
              <a:tr h="719191">
                <a:tc>
                  <a:txBody>
                    <a:bodyPr/>
                    <a:lstStyle/>
                    <a:p>
                      <a:r>
                        <a:rPr lang="en-IN" sz="3200" dirty="0">
                          <a:latin typeface="Times New Roman" panose="02020603050405020304" pitchFamily="18" charset="0"/>
                          <a:cs typeface="Times New Roman" panose="02020603050405020304" pitchFamily="18" charset="0"/>
                        </a:rPr>
                        <a:t>2310030346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3200" dirty="0">
                          <a:latin typeface="Times New Roman" panose="02020603050405020304" pitchFamily="18" charset="0"/>
                          <a:cs typeface="Times New Roman" panose="02020603050405020304" pitchFamily="18" charset="0"/>
                        </a:rPr>
                        <a:t>D R Nidhish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4229790"/>
                  </a:ext>
                </a:extLst>
              </a:tr>
            </a:tbl>
          </a:graphicData>
        </a:graphic>
      </p:graphicFrame>
      <p:pic>
        <p:nvPicPr>
          <p:cNvPr id="4" name="Picture 3">
            <a:extLst>
              <a:ext uri="{FF2B5EF4-FFF2-40B4-BE49-F238E27FC236}">
                <a16:creationId xmlns:a16="http://schemas.microsoft.com/office/drawing/2014/main" id="{36AA6B5D-CF06-8E19-7818-28DC46FAD4DC}"/>
              </a:ext>
            </a:extLst>
          </p:cNvPr>
          <p:cNvPicPr>
            <a:picLocks noChangeAspect="1"/>
          </p:cNvPicPr>
          <p:nvPr/>
        </p:nvPicPr>
        <p:blipFill>
          <a:blip r:embed="rId2"/>
          <a:stretch>
            <a:fillRect/>
          </a:stretch>
        </p:blipFill>
        <p:spPr>
          <a:xfrm>
            <a:off x="10280426" y="7353255"/>
            <a:ext cx="4349974" cy="876345"/>
          </a:xfrm>
          <a:prstGeom prst="rect">
            <a:avLst/>
          </a:prstGeom>
        </p:spPr>
      </p:pic>
      <p:sp>
        <p:nvSpPr>
          <p:cNvPr id="5" name="TextBox 4">
            <a:extLst>
              <a:ext uri="{FF2B5EF4-FFF2-40B4-BE49-F238E27FC236}">
                <a16:creationId xmlns:a16="http://schemas.microsoft.com/office/drawing/2014/main" id="{ED337FC3-A02A-1FF1-8210-5FD208720374}"/>
              </a:ext>
            </a:extLst>
          </p:cNvPr>
          <p:cNvSpPr txBox="1"/>
          <p:nvPr/>
        </p:nvSpPr>
        <p:spPr>
          <a:xfrm>
            <a:off x="2188396" y="996593"/>
            <a:ext cx="9894013" cy="584775"/>
          </a:xfrm>
          <a:prstGeom prst="rect">
            <a:avLst/>
          </a:prstGeom>
          <a:noFill/>
        </p:spPr>
        <p:txBody>
          <a:bodyPr wrap="square" rtlCol="0">
            <a:spAutoFit/>
          </a:bodyPr>
          <a:lstStyle/>
          <a:p>
            <a:pPr algn="ctr"/>
            <a:r>
              <a:rPr lang="en-US" sz="3200" b="1" dirty="0">
                <a:solidFill>
                  <a:srgbClr val="000000"/>
                </a:solidFill>
                <a:latin typeface="Inter Bold" pitchFamily="34" charset="0"/>
                <a:ea typeface="Inter Bold" pitchFamily="34" charset="-122"/>
                <a:cs typeface="Inter Bold" pitchFamily="34" charset="-120"/>
              </a:rPr>
              <a:t>OverSeer.AI</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0086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05785" y="1249240"/>
            <a:ext cx="7941622" cy="1029138"/>
          </a:xfrm>
          <a:prstGeom prst="rect">
            <a:avLst/>
          </a:prstGeom>
          <a:noFill/>
          <a:ln/>
        </p:spPr>
        <p:txBody>
          <a:bodyPr wrap="square" lIns="0" tIns="0" rIns="0" bIns="0" rtlCol="0" anchor="t"/>
          <a:lstStyle/>
          <a:p>
            <a:pPr marL="0" indent="0" algn="l">
              <a:lnSpc>
                <a:spcPts val="7700"/>
              </a:lnSpc>
              <a:buNone/>
            </a:pPr>
            <a:r>
              <a:rPr lang="en-US" sz="6150" b="1" dirty="0">
                <a:solidFill>
                  <a:srgbClr val="000000"/>
                </a:solidFill>
                <a:latin typeface="Inter Bold" pitchFamily="34" charset="0"/>
                <a:ea typeface="Inter Bold" pitchFamily="34" charset="-122"/>
                <a:cs typeface="Inter Bold" pitchFamily="34" charset="-120"/>
              </a:rPr>
              <a:t>What is OverSeer.AI?</a:t>
            </a:r>
            <a:endParaRPr lang="en-US" sz="6150" dirty="0"/>
          </a:p>
        </p:txBody>
      </p:sp>
      <p:sp>
        <p:nvSpPr>
          <p:cNvPr id="3" name="Text 1"/>
          <p:cNvSpPr/>
          <p:nvPr/>
        </p:nvSpPr>
        <p:spPr>
          <a:xfrm>
            <a:off x="205785" y="2360571"/>
            <a:ext cx="7251878" cy="5074877"/>
          </a:xfrm>
          <a:prstGeom prst="rect">
            <a:avLst/>
          </a:prstGeom>
          <a:noFill/>
          <a:ln/>
        </p:spPr>
        <p:txBody>
          <a:bodyPr wrap="square" lIns="0" tIns="0" rIns="0" bIns="0" rtlCol="0" anchor="t"/>
          <a:lstStyle/>
          <a:p>
            <a:pPr algn="just">
              <a:lnSpc>
                <a:spcPts val="2850"/>
              </a:lnSpc>
            </a:pPr>
            <a:r>
              <a:rPr lang="en-US" sz="3200" dirty="0">
                <a:latin typeface="Times New Roman" panose="02020603050405020304" pitchFamily="18" charset="0"/>
                <a:cs typeface="Times New Roman" panose="02020603050405020304" pitchFamily="18" charset="0"/>
              </a:rPr>
              <a:t>OverSeer.AI is like an AI-powered digital assistant that lives in your browser. It watches what you do (securely), understands your tasks, and helps you save time by automating things like replies, summaries, and bug tracking—kind of like having a very smart, invisible productivity partner.</a:t>
            </a:r>
            <a:endParaRPr lang="en-US" sz="3200" baseline="-250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7599521" y="1002660"/>
            <a:ext cx="6244709" cy="6244709"/>
          </a:xfrm>
          <a:prstGeom prst="rect">
            <a:avLst/>
          </a:prstGeom>
        </p:spPr>
      </p:pic>
      <p:pic>
        <p:nvPicPr>
          <p:cNvPr id="6" name="Picture 5">
            <a:extLst>
              <a:ext uri="{FF2B5EF4-FFF2-40B4-BE49-F238E27FC236}">
                <a16:creationId xmlns:a16="http://schemas.microsoft.com/office/drawing/2014/main" id="{C7A5875B-C980-AF26-D853-DF13CA00F004}"/>
              </a:ext>
            </a:extLst>
          </p:cNvPr>
          <p:cNvPicPr>
            <a:picLocks noChangeAspect="1"/>
          </p:cNvPicPr>
          <p:nvPr/>
        </p:nvPicPr>
        <p:blipFill>
          <a:blip r:embed="rId4"/>
          <a:stretch>
            <a:fillRect/>
          </a:stretch>
        </p:blipFill>
        <p:spPr>
          <a:xfrm>
            <a:off x="10280426" y="7353255"/>
            <a:ext cx="4349974" cy="8763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702473" y="1430000"/>
            <a:ext cx="7539157" cy="620078"/>
          </a:xfrm>
          <a:prstGeom prst="rect">
            <a:avLst/>
          </a:prstGeom>
          <a:noFill/>
          <a:ln/>
        </p:spPr>
        <p:txBody>
          <a:bodyPr wrap="none" lIns="0" tIns="0" rIns="0" bIns="0" rtlCol="0" anchor="t"/>
          <a:lstStyle/>
          <a:p>
            <a:pPr>
              <a:lnSpc>
                <a:spcPts val="7700"/>
              </a:lnSpc>
            </a:pPr>
            <a:r>
              <a:rPr lang="en-US" sz="4000" b="1" dirty="0">
                <a:solidFill>
                  <a:srgbClr val="000000"/>
                </a:solidFill>
                <a:latin typeface="Times New Roman" panose="02020603050405020304" pitchFamily="18" charset="0"/>
                <a:ea typeface="Inter Bold" pitchFamily="34" charset="-122"/>
                <a:cs typeface="Times New Roman" panose="02020603050405020304" pitchFamily="18" charset="0"/>
              </a:rPr>
              <a:t>Intelligent Monitoring &amp; Adaptability</a:t>
            </a:r>
            <a:endParaRPr lang="en-US" sz="40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856309"/>
            <a:ext cx="13042821" cy="635079"/>
          </a:xfrm>
          <a:prstGeom prst="rect">
            <a:avLst/>
          </a:prstGeom>
          <a:noFill/>
          <a:ln/>
        </p:spPr>
        <p:txBody>
          <a:bodyPr wrap="square" lIns="0" tIns="0" rIns="0" bIns="0" rtlCol="0" anchor="t"/>
          <a:lstStyle/>
          <a:p>
            <a:pPr marL="0" indent="0" algn="l">
              <a:lnSpc>
                <a:spcPts val="250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At its core, OverSeer.AI continuously monitors and learns from your digital interactions. This deep learning enables it to build a comprehensive understanding of your workflow, preferences, and priorities.</a:t>
            </a:r>
            <a:endParaRPr lang="en-US" sz="20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793790" y="3714631"/>
            <a:ext cx="496133" cy="496133"/>
          </a:xfrm>
          <a:prstGeom prst="rect">
            <a:avLst/>
          </a:prstGeom>
        </p:spPr>
      </p:pic>
      <p:sp>
        <p:nvSpPr>
          <p:cNvPr id="5" name="Text 2"/>
          <p:cNvSpPr/>
          <p:nvPr/>
        </p:nvSpPr>
        <p:spPr>
          <a:xfrm>
            <a:off x="1537930" y="383238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Times New Roman" panose="02020603050405020304" pitchFamily="18" charset="0"/>
                <a:ea typeface="Inter Bold" pitchFamily="34" charset="-122"/>
                <a:cs typeface="Times New Roman" panose="02020603050405020304" pitchFamily="18" charset="0"/>
              </a:rPr>
              <a:t>Browsing Habits</a:t>
            </a:r>
            <a:endParaRPr lang="en-US" sz="1950" dirty="0">
              <a:latin typeface="Times New Roman" panose="02020603050405020304" pitchFamily="18" charset="0"/>
              <a:cs typeface="Times New Roman" panose="02020603050405020304" pitchFamily="18" charset="0"/>
            </a:endParaRPr>
          </a:p>
        </p:txBody>
      </p:sp>
      <p:sp>
        <p:nvSpPr>
          <p:cNvPr id="6" name="Text 3"/>
          <p:cNvSpPr/>
          <p:nvPr/>
        </p:nvSpPr>
        <p:spPr>
          <a:xfrm>
            <a:off x="1537930" y="4261604"/>
            <a:ext cx="3438049" cy="952619"/>
          </a:xfrm>
          <a:prstGeom prst="rect">
            <a:avLst/>
          </a:prstGeom>
          <a:noFill/>
          <a:ln/>
        </p:spPr>
        <p:txBody>
          <a:bodyPr wrap="square" lIns="0" tIns="0" rIns="0" bIns="0" rtlCol="0" anchor="t"/>
          <a:lstStyle/>
          <a:p>
            <a:pPr marL="0" indent="0" algn="just">
              <a:lnSpc>
                <a:spcPts val="250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Analyses your website visits, search queries, and content consumption to understand your information needs.</a:t>
            </a:r>
            <a:endParaRPr lang="en-US" sz="2000" dirty="0">
              <a:latin typeface="Times New Roman" panose="02020603050405020304" pitchFamily="18" charset="0"/>
              <a:cs typeface="Times New Roman" panose="02020603050405020304" pitchFamily="18" charset="0"/>
            </a:endParaRPr>
          </a:p>
        </p:txBody>
      </p:sp>
      <p:pic>
        <p:nvPicPr>
          <p:cNvPr id="7" name="Image 1" descr="preencoded.png"/>
          <p:cNvPicPr>
            <a:picLocks noChangeAspect="1"/>
          </p:cNvPicPr>
          <p:nvPr/>
        </p:nvPicPr>
        <p:blipFill>
          <a:blip r:embed="rId4"/>
          <a:stretch>
            <a:fillRect/>
          </a:stretch>
        </p:blipFill>
        <p:spPr>
          <a:xfrm>
            <a:off x="5223986" y="3714631"/>
            <a:ext cx="496133" cy="496133"/>
          </a:xfrm>
          <a:prstGeom prst="rect">
            <a:avLst/>
          </a:prstGeom>
        </p:spPr>
      </p:pic>
      <p:sp>
        <p:nvSpPr>
          <p:cNvPr id="8" name="Text 4"/>
          <p:cNvSpPr/>
          <p:nvPr/>
        </p:nvSpPr>
        <p:spPr>
          <a:xfrm>
            <a:off x="5968127" y="383238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Times New Roman" panose="02020603050405020304" pitchFamily="18" charset="0"/>
                <a:ea typeface="Inter Bold" pitchFamily="34" charset="-122"/>
                <a:cs typeface="Times New Roman" panose="02020603050405020304" pitchFamily="18" charset="0"/>
              </a:rPr>
              <a:t>Email Patterns</a:t>
            </a:r>
            <a:endParaRPr lang="en-US" sz="1950" dirty="0">
              <a:latin typeface="Times New Roman" panose="02020603050405020304" pitchFamily="18" charset="0"/>
              <a:cs typeface="Times New Roman" panose="02020603050405020304" pitchFamily="18" charset="0"/>
            </a:endParaRPr>
          </a:p>
        </p:txBody>
      </p:sp>
      <p:sp>
        <p:nvSpPr>
          <p:cNvPr id="9" name="Text 5"/>
          <p:cNvSpPr/>
          <p:nvPr/>
        </p:nvSpPr>
        <p:spPr>
          <a:xfrm>
            <a:off x="5968127" y="4261604"/>
            <a:ext cx="3438168" cy="1270159"/>
          </a:xfrm>
          <a:prstGeom prst="rect">
            <a:avLst/>
          </a:prstGeom>
          <a:noFill/>
          <a:ln/>
        </p:spPr>
        <p:txBody>
          <a:bodyPr wrap="square" lIns="0" tIns="0" rIns="0" bIns="0" rtlCol="0" anchor="t"/>
          <a:lstStyle/>
          <a:p>
            <a:pPr marL="0" indent="0" algn="just">
              <a:lnSpc>
                <a:spcPts val="250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Learns from your email composition, common replies, and communication styles to draft contextually relevant responses.</a:t>
            </a:r>
            <a:endParaRPr lang="en-US"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5"/>
          <a:stretch>
            <a:fillRect/>
          </a:stretch>
        </p:blipFill>
        <p:spPr>
          <a:xfrm>
            <a:off x="9654302" y="3714631"/>
            <a:ext cx="496133" cy="496133"/>
          </a:xfrm>
          <a:prstGeom prst="rect">
            <a:avLst/>
          </a:prstGeom>
        </p:spPr>
      </p:pic>
      <p:sp>
        <p:nvSpPr>
          <p:cNvPr id="11" name="Text 6"/>
          <p:cNvSpPr/>
          <p:nvPr/>
        </p:nvSpPr>
        <p:spPr>
          <a:xfrm>
            <a:off x="10398443" y="383238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Times New Roman" panose="02020603050405020304" pitchFamily="18" charset="0"/>
                <a:ea typeface="Inter Bold" pitchFamily="34" charset="-122"/>
                <a:cs typeface="Times New Roman" panose="02020603050405020304" pitchFamily="18" charset="0"/>
              </a:rPr>
              <a:t>App Usage</a:t>
            </a:r>
            <a:endParaRPr lang="en-US" sz="1950" dirty="0">
              <a:latin typeface="Times New Roman" panose="02020603050405020304" pitchFamily="18" charset="0"/>
              <a:cs typeface="Times New Roman" panose="02020603050405020304" pitchFamily="18" charset="0"/>
            </a:endParaRPr>
          </a:p>
        </p:txBody>
      </p:sp>
      <p:sp>
        <p:nvSpPr>
          <p:cNvPr id="12" name="Text 7"/>
          <p:cNvSpPr/>
          <p:nvPr/>
        </p:nvSpPr>
        <p:spPr>
          <a:xfrm>
            <a:off x="10398443" y="4261604"/>
            <a:ext cx="3438168" cy="1270159"/>
          </a:xfrm>
          <a:prstGeom prst="rect">
            <a:avLst/>
          </a:prstGeom>
          <a:noFill/>
          <a:ln/>
        </p:spPr>
        <p:txBody>
          <a:bodyPr wrap="square" lIns="0" tIns="0" rIns="0" bIns="0" rtlCol="0" anchor="t"/>
          <a:lstStyle/>
          <a:p>
            <a:pPr marL="0" indent="0" algn="l">
              <a:lnSpc>
                <a:spcPts val="250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Observes your interactions within various applications, identifying repetitive actions that can be automated.</a:t>
            </a:r>
            <a:endParaRPr lang="en-US" sz="2000" dirty="0">
              <a:latin typeface="Times New Roman" panose="02020603050405020304" pitchFamily="18" charset="0"/>
              <a:cs typeface="Times New Roman" panose="02020603050405020304" pitchFamily="18" charset="0"/>
            </a:endParaRPr>
          </a:p>
        </p:txBody>
      </p:sp>
      <p:sp>
        <p:nvSpPr>
          <p:cNvPr id="13" name="Text 8"/>
          <p:cNvSpPr/>
          <p:nvPr/>
        </p:nvSpPr>
        <p:spPr>
          <a:xfrm>
            <a:off x="793790" y="5755005"/>
            <a:ext cx="13042821" cy="635079"/>
          </a:xfrm>
          <a:prstGeom prst="rect">
            <a:avLst/>
          </a:prstGeom>
          <a:noFill/>
          <a:ln/>
        </p:spPr>
        <p:txBody>
          <a:bodyPr wrap="square" lIns="0" tIns="0" rIns="0" bIns="0" rtlCol="0" anchor="t"/>
          <a:lstStyle/>
          <a:p>
            <a:pPr marL="0" indent="0" algn="l">
              <a:lnSpc>
                <a:spcPts val="2500"/>
              </a:lnSpc>
              <a:buNone/>
            </a:pPr>
            <a:r>
              <a:rPr lang="en-US" sz="2400" dirty="0">
                <a:solidFill>
                  <a:srgbClr val="272525"/>
                </a:solidFill>
                <a:latin typeface="Times New Roman" panose="02020603050405020304" pitchFamily="18" charset="0"/>
                <a:ea typeface="Inter" pitchFamily="34" charset="-122"/>
                <a:cs typeface="Times New Roman" panose="02020603050405020304" pitchFamily="18" charset="0"/>
              </a:rPr>
              <a:t>This constant learning loop ensures Overseer. AI's intelligence evolves with you, making its assistance increasingly precise and valuable over time.</a:t>
            </a:r>
            <a:endParaRPr lang="en-US" sz="24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31CC6C8B-67BD-0A2E-7627-8E0C72FC9C12}"/>
              </a:ext>
            </a:extLst>
          </p:cNvPr>
          <p:cNvPicPr>
            <a:picLocks noChangeAspect="1"/>
          </p:cNvPicPr>
          <p:nvPr/>
        </p:nvPicPr>
        <p:blipFill>
          <a:blip r:embed="rId6"/>
          <a:stretch>
            <a:fillRect/>
          </a:stretch>
        </p:blipFill>
        <p:spPr>
          <a:xfrm>
            <a:off x="10150435" y="7273024"/>
            <a:ext cx="4349974" cy="8763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079903"/>
            <a:ext cx="11365111" cy="978218"/>
          </a:xfrm>
          <a:prstGeom prst="rect">
            <a:avLst/>
          </a:prstGeom>
          <a:noFill/>
          <a:ln/>
        </p:spPr>
        <p:txBody>
          <a:bodyPr wrap="none" lIns="0" tIns="0" rIns="0" bIns="0" rtlCol="0" anchor="t"/>
          <a:lstStyle/>
          <a:p>
            <a:pPr marL="0" indent="0" algn="l">
              <a:lnSpc>
                <a:spcPts val="7700"/>
              </a:lnSpc>
              <a:buNone/>
            </a:pPr>
            <a:r>
              <a:rPr lang="en-US" sz="6600" b="1" dirty="0">
                <a:solidFill>
                  <a:srgbClr val="000000"/>
                </a:solidFill>
                <a:latin typeface="Times New Roman" panose="02020603050405020304" pitchFamily="18" charset="0"/>
                <a:ea typeface="Inter Bold" pitchFamily="34" charset="-122"/>
                <a:cs typeface="Times New Roman" panose="02020603050405020304" pitchFamily="18" charset="0"/>
              </a:rPr>
              <a:t>Smart Dashboard Capabilities</a:t>
            </a:r>
            <a:endParaRPr lang="en-US" sz="6600" dirty="0">
              <a:latin typeface="Times New Roman" panose="02020603050405020304" pitchFamily="18" charset="0"/>
              <a:cs typeface="Times New Roman" panose="02020603050405020304" pitchFamily="18" charset="0"/>
            </a:endParaRPr>
          </a:p>
        </p:txBody>
      </p:sp>
      <p:sp>
        <p:nvSpPr>
          <p:cNvPr id="3" name="Shape 1"/>
          <p:cNvSpPr/>
          <p:nvPr/>
        </p:nvSpPr>
        <p:spPr>
          <a:xfrm>
            <a:off x="793790" y="3511748"/>
            <a:ext cx="510302" cy="510302"/>
          </a:xfrm>
          <a:prstGeom prst="roundRect">
            <a:avLst>
              <a:gd name="adj" fmla="val 18669"/>
            </a:avLst>
          </a:prstGeom>
          <a:solidFill>
            <a:srgbClr val="DADBF1"/>
          </a:solidFill>
          <a:ln w="7620">
            <a:solidFill>
              <a:srgbClr val="C0C1D7"/>
            </a:solidFill>
            <a:prstDash val="solid"/>
          </a:ln>
        </p:spPr>
      </p:sp>
      <p:sp>
        <p:nvSpPr>
          <p:cNvPr id="4" name="Text 2"/>
          <p:cNvSpPr/>
          <p:nvPr/>
        </p:nvSpPr>
        <p:spPr>
          <a:xfrm>
            <a:off x="878860" y="3554254"/>
            <a:ext cx="340162" cy="425291"/>
          </a:xfrm>
          <a:prstGeom prst="rect">
            <a:avLst/>
          </a:prstGeom>
          <a:noFill/>
          <a:ln/>
        </p:spPr>
        <p:txBody>
          <a:bodyPr wrap="none" lIns="0" tIns="0" rIns="0" bIns="0" rtlCol="0" anchor="t"/>
          <a:lstStyle/>
          <a:p>
            <a:pPr marL="0" indent="0" algn="ctr">
              <a:lnSpc>
                <a:spcPts val="2650"/>
              </a:lnSpc>
              <a:buNone/>
            </a:pPr>
            <a:r>
              <a:rPr lang="en-US" sz="2800" b="1" dirty="0">
                <a:solidFill>
                  <a:srgbClr val="272525"/>
                </a:solidFill>
                <a:latin typeface="Times New Roman" panose="02020603050405020304" pitchFamily="18" charset="0"/>
                <a:ea typeface="Inter Bold" pitchFamily="34" charset="-122"/>
                <a:cs typeface="Times New Roman" panose="02020603050405020304" pitchFamily="18" charset="0"/>
              </a:rPr>
              <a:t>1</a:t>
            </a:r>
            <a:endParaRPr lang="en-US" sz="2800" dirty="0">
              <a:latin typeface="Times New Roman" panose="02020603050405020304" pitchFamily="18" charset="0"/>
              <a:cs typeface="Times New Roman" panose="02020603050405020304" pitchFamily="18" charset="0"/>
            </a:endParaRPr>
          </a:p>
        </p:txBody>
      </p:sp>
      <p:sp>
        <p:nvSpPr>
          <p:cNvPr id="5" name="Text 3"/>
          <p:cNvSpPr/>
          <p:nvPr/>
        </p:nvSpPr>
        <p:spPr>
          <a:xfrm>
            <a:off x="1530906" y="3589615"/>
            <a:ext cx="2896195" cy="354330"/>
          </a:xfrm>
          <a:prstGeom prst="rect">
            <a:avLst/>
          </a:prstGeom>
          <a:noFill/>
          <a:ln/>
        </p:spPr>
        <p:txBody>
          <a:bodyPr wrap="none" lIns="0" tIns="0" rIns="0" bIns="0" rtlCol="0" anchor="t"/>
          <a:lstStyle/>
          <a:p>
            <a:pPr marL="0" indent="0" algn="l">
              <a:lnSpc>
                <a:spcPts val="2750"/>
              </a:lnSpc>
              <a:buNone/>
            </a:pPr>
            <a:r>
              <a:rPr lang="en-US" sz="2400" b="1" dirty="0">
                <a:solidFill>
                  <a:srgbClr val="272525"/>
                </a:solidFill>
                <a:latin typeface="Times New Roman" panose="02020603050405020304" pitchFamily="18" charset="0"/>
                <a:ea typeface="Inter Bold" pitchFamily="34" charset="-122"/>
                <a:cs typeface="Times New Roman" panose="02020603050405020304" pitchFamily="18" charset="0"/>
              </a:rPr>
              <a:t>Work Summarisation</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1530906" y="4080034"/>
            <a:ext cx="3421499" cy="1451610"/>
          </a:xfrm>
          <a:prstGeom prst="rect">
            <a:avLst/>
          </a:prstGeom>
          <a:noFill/>
          <a:ln/>
        </p:spPr>
        <p:txBody>
          <a:bodyPr wrap="square" lIns="0" tIns="0" rIns="0" bIns="0" rtlCol="0" anchor="t"/>
          <a:lstStyle/>
          <a:p>
            <a:pPr marL="0" indent="0" algn="l">
              <a:lnSpc>
                <a:spcPts val="28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Efficiently condenses emails, meeting transcripts, and documents, providing concise overviews.</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5235893" y="3511748"/>
            <a:ext cx="510302" cy="510302"/>
          </a:xfrm>
          <a:prstGeom prst="roundRect">
            <a:avLst>
              <a:gd name="adj" fmla="val 18669"/>
            </a:avLst>
          </a:prstGeom>
          <a:solidFill>
            <a:srgbClr val="DADBF1"/>
          </a:solidFill>
          <a:ln w="7620">
            <a:solidFill>
              <a:srgbClr val="C0C1D7"/>
            </a:solidFill>
            <a:prstDash val="solid"/>
          </a:ln>
        </p:spPr>
      </p:sp>
      <p:sp>
        <p:nvSpPr>
          <p:cNvPr id="8" name="Text 6"/>
          <p:cNvSpPr/>
          <p:nvPr/>
        </p:nvSpPr>
        <p:spPr>
          <a:xfrm>
            <a:off x="5320963" y="3554254"/>
            <a:ext cx="340162" cy="425291"/>
          </a:xfrm>
          <a:prstGeom prst="rect">
            <a:avLst/>
          </a:prstGeom>
          <a:noFill/>
          <a:ln/>
        </p:spPr>
        <p:txBody>
          <a:bodyPr wrap="none" lIns="0" tIns="0" rIns="0" bIns="0" rtlCol="0" anchor="t"/>
          <a:lstStyle/>
          <a:p>
            <a:pPr marL="0" indent="0" algn="ctr">
              <a:lnSpc>
                <a:spcPts val="2650"/>
              </a:lnSpc>
              <a:buNone/>
            </a:pPr>
            <a:r>
              <a:rPr lang="en-US" sz="2800" b="1" dirty="0">
                <a:solidFill>
                  <a:srgbClr val="272525"/>
                </a:solidFill>
                <a:latin typeface="Times New Roman" panose="02020603050405020304" pitchFamily="18" charset="0"/>
                <a:ea typeface="Inter Bold" pitchFamily="34" charset="-122"/>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9" name="Text 7"/>
          <p:cNvSpPr/>
          <p:nvPr/>
        </p:nvSpPr>
        <p:spPr>
          <a:xfrm>
            <a:off x="5973008" y="3589615"/>
            <a:ext cx="2835235" cy="354330"/>
          </a:xfrm>
          <a:prstGeom prst="rect">
            <a:avLst/>
          </a:prstGeom>
          <a:noFill/>
          <a:ln/>
        </p:spPr>
        <p:txBody>
          <a:bodyPr wrap="none" lIns="0" tIns="0" rIns="0" bIns="0" rtlCol="0" anchor="t"/>
          <a:lstStyle/>
          <a:p>
            <a:pPr marL="0" indent="0" algn="l">
              <a:lnSpc>
                <a:spcPts val="2750"/>
              </a:lnSpc>
              <a:buNone/>
            </a:pPr>
            <a:r>
              <a:rPr lang="en-US" sz="2400" b="1" dirty="0">
                <a:solidFill>
                  <a:srgbClr val="272525"/>
                </a:solidFill>
                <a:latin typeface="Times New Roman" panose="02020603050405020304" pitchFamily="18" charset="0"/>
                <a:ea typeface="Inter Bold" pitchFamily="34" charset="-122"/>
                <a:cs typeface="Times New Roman" panose="02020603050405020304" pitchFamily="18" charset="0"/>
              </a:rPr>
              <a:t>Action Suggestions</a:t>
            </a:r>
            <a:endParaRPr lang="en-US" sz="2400" dirty="0">
              <a:latin typeface="Times New Roman" panose="02020603050405020304" pitchFamily="18" charset="0"/>
              <a:cs typeface="Times New Roman" panose="02020603050405020304" pitchFamily="18" charset="0"/>
            </a:endParaRPr>
          </a:p>
        </p:txBody>
      </p:sp>
      <p:sp>
        <p:nvSpPr>
          <p:cNvPr id="10" name="Text 8"/>
          <p:cNvSpPr/>
          <p:nvPr/>
        </p:nvSpPr>
        <p:spPr>
          <a:xfrm>
            <a:off x="5973008" y="4080034"/>
            <a:ext cx="3421499" cy="1451610"/>
          </a:xfrm>
          <a:prstGeom prst="rect">
            <a:avLst/>
          </a:prstGeom>
          <a:noFill/>
          <a:ln/>
        </p:spPr>
        <p:txBody>
          <a:bodyPr wrap="square" lIns="0" tIns="0" rIns="0" bIns="0" rtlCol="0" anchor="t"/>
          <a:lstStyle/>
          <a:p>
            <a:pPr marL="0" indent="0" algn="l">
              <a:lnSpc>
                <a:spcPts val="28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Proactively suggests actions like replying to messages, summarising content, or flagging important issues.</a:t>
            </a:r>
            <a:endParaRPr lang="en-US" dirty="0">
              <a:latin typeface="Times New Roman" panose="02020603050405020304" pitchFamily="18" charset="0"/>
              <a:cs typeface="Times New Roman" panose="02020603050405020304" pitchFamily="18" charset="0"/>
            </a:endParaRPr>
          </a:p>
        </p:txBody>
      </p:sp>
      <p:sp>
        <p:nvSpPr>
          <p:cNvPr id="11" name="Shape 9"/>
          <p:cNvSpPr/>
          <p:nvPr/>
        </p:nvSpPr>
        <p:spPr>
          <a:xfrm>
            <a:off x="9677995" y="3511748"/>
            <a:ext cx="510302" cy="510302"/>
          </a:xfrm>
          <a:prstGeom prst="roundRect">
            <a:avLst>
              <a:gd name="adj" fmla="val 18669"/>
            </a:avLst>
          </a:prstGeom>
          <a:solidFill>
            <a:srgbClr val="DADBF1"/>
          </a:solidFill>
          <a:ln w="7620">
            <a:solidFill>
              <a:srgbClr val="C0C1D7"/>
            </a:solidFill>
            <a:prstDash val="solid"/>
          </a:ln>
        </p:spPr>
      </p:sp>
      <p:sp>
        <p:nvSpPr>
          <p:cNvPr id="12" name="Text 10"/>
          <p:cNvSpPr/>
          <p:nvPr/>
        </p:nvSpPr>
        <p:spPr>
          <a:xfrm>
            <a:off x="9763065" y="3554254"/>
            <a:ext cx="340162" cy="425291"/>
          </a:xfrm>
          <a:prstGeom prst="rect">
            <a:avLst/>
          </a:prstGeom>
          <a:noFill/>
          <a:ln/>
        </p:spPr>
        <p:txBody>
          <a:bodyPr wrap="none" lIns="0" tIns="0" rIns="0" bIns="0" rtlCol="0" anchor="t"/>
          <a:lstStyle/>
          <a:p>
            <a:pPr marL="0" indent="0" algn="ctr">
              <a:lnSpc>
                <a:spcPts val="2650"/>
              </a:lnSpc>
              <a:buNone/>
            </a:pPr>
            <a:r>
              <a:rPr lang="en-US" sz="2800" b="1" dirty="0">
                <a:solidFill>
                  <a:srgbClr val="272525"/>
                </a:solidFill>
                <a:latin typeface="Times New Roman" panose="02020603050405020304" pitchFamily="18" charset="0"/>
                <a:ea typeface="Inter Bold" pitchFamily="34" charset="-122"/>
                <a:cs typeface="Times New Roman" panose="02020603050405020304" pitchFamily="18" charset="0"/>
              </a:rPr>
              <a:t>3</a:t>
            </a:r>
            <a:endParaRPr lang="en-US" sz="2800" dirty="0">
              <a:latin typeface="Times New Roman" panose="02020603050405020304" pitchFamily="18" charset="0"/>
              <a:cs typeface="Times New Roman" panose="02020603050405020304" pitchFamily="18" charset="0"/>
            </a:endParaRPr>
          </a:p>
        </p:txBody>
      </p:sp>
      <p:sp>
        <p:nvSpPr>
          <p:cNvPr id="13" name="Text 11"/>
          <p:cNvSpPr/>
          <p:nvPr/>
        </p:nvSpPr>
        <p:spPr>
          <a:xfrm>
            <a:off x="10415111" y="3589615"/>
            <a:ext cx="2835235" cy="354330"/>
          </a:xfrm>
          <a:prstGeom prst="rect">
            <a:avLst/>
          </a:prstGeom>
          <a:noFill/>
          <a:ln/>
        </p:spPr>
        <p:txBody>
          <a:bodyPr wrap="none" lIns="0" tIns="0" rIns="0" bIns="0" rtlCol="0" anchor="t"/>
          <a:lstStyle/>
          <a:p>
            <a:pPr marL="0" indent="0" algn="l">
              <a:lnSpc>
                <a:spcPts val="2750"/>
              </a:lnSpc>
              <a:buNone/>
            </a:pPr>
            <a:r>
              <a:rPr lang="en-US" sz="2400" b="1" dirty="0">
                <a:solidFill>
                  <a:srgbClr val="272525"/>
                </a:solidFill>
                <a:latin typeface="Times New Roman" panose="02020603050405020304" pitchFamily="18" charset="0"/>
                <a:ea typeface="Inter Bold" pitchFamily="34" charset="-122"/>
                <a:cs typeface="Times New Roman" panose="02020603050405020304" pitchFamily="18" charset="0"/>
              </a:rPr>
              <a:t>Proactive Adaption</a:t>
            </a:r>
            <a:endParaRPr lang="en-US" sz="2400" dirty="0">
              <a:latin typeface="Times New Roman" panose="02020603050405020304" pitchFamily="18" charset="0"/>
              <a:cs typeface="Times New Roman" panose="02020603050405020304" pitchFamily="18" charset="0"/>
            </a:endParaRPr>
          </a:p>
        </p:txBody>
      </p:sp>
      <p:sp>
        <p:nvSpPr>
          <p:cNvPr id="14" name="Text 12"/>
          <p:cNvSpPr/>
          <p:nvPr/>
        </p:nvSpPr>
        <p:spPr>
          <a:xfrm>
            <a:off x="10415111" y="4080034"/>
            <a:ext cx="3421499" cy="1451610"/>
          </a:xfrm>
          <a:prstGeom prst="rect">
            <a:avLst/>
          </a:prstGeom>
          <a:noFill/>
          <a:ln/>
        </p:spPr>
        <p:txBody>
          <a:bodyPr wrap="square" lIns="0" tIns="0" rIns="0" bIns="0" rtlCol="0" anchor="t"/>
          <a:lstStyle/>
          <a:p>
            <a:pPr marL="0" indent="0" algn="l">
              <a:lnSpc>
                <a:spcPts val="28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Over time, OverSeer.AI learns your habits, anticipating needs and assisting proactively rather than reactively.</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793790" y="5786795"/>
            <a:ext cx="13042821" cy="362903"/>
          </a:xfrm>
          <a:prstGeom prst="rect">
            <a:avLst/>
          </a:prstGeom>
          <a:noFill/>
          <a:ln/>
        </p:spPr>
        <p:txBody>
          <a:bodyPr wrap="none" lIns="0" tIns="0" rIns="0" bIns="0" rtlCol="0" anchor="t"/>
          <a:lstStyle/>
          <a:p>
            <a:pPr marL="0" indent="0" algn="l">
              <a:lnSpc>
                <a:spcPts val="28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These features significantly streamline your digital workflow, enhancing productivity.</a:t>
            </a:r>
            <a:endParaRPr lang="en-US"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8BEE59DF-231E-CBB4-0F2A-3BF9F2DB7F9F}"/>
              </a:ext>
            </a:extLst>
          </p:cNvPr>
          <p:cNvPicPr>
            <a:picLocks noChangeAspect="1"/>
          </p:cNvPicPr>
          <p:nvPr/>
        </p:nvPicPr>
        <p:blipFill>
          <a:blip r:embed="rId3"/>
          <a:stretch>
            <a:fillRect/>
          </a:stretch>
        </p:blipFill>
        <p:spPr>
          <a:xfrm>
            <a:off x="10280426" y="7296389"/>
            <a:ext cx="4349974" cy="8763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32736"/>
            <a:ext cx="8865632" cy="978218"/>
          </a:xfrm>
          <a:prstGeom prst="rect">
            <a:avLst/>
          </a:prstGeom>
          <a:noFill/>
          <a:ln/>
        </p:spPr>
        <p:txBody>
          <a:bodyPr wrap="none" lIns="0" tIns="0" rIns="0" bIns="0" rtlCol="0" anchor="t"/>
          <a:lstStyle/>
          <a:p>
            <a:pPr marL="0" indent="0" algn="l">
              <a:lnSpc>
                <a:spcPts val="7700"/>
              </a:lnSpc>
              <a:buNone/>
            </a:pPr>
            <a:r>
              <a:rPr lang="en-US" sz="6600" b="1" dirty="0">
                <a:solidFill>
                  <a:srgbClr val="000000"/>
                </a:solidFill>
                <a:latin typeface="Times New Roman" panose="02020603050405020304" pitchFamily="18" charset="0"/>
                <a:ea typeface="Inter Bold" pitchFamily="34" charset="-122"/>
                <a:cs typeface="Times New Roman" panose="02020603050405020304" pitchFamily="18" charset="0"/>
              </a:rPr>
              <a:t>Core Technology Stack</a:t>
            </a:r>
            <a:endParaRPr lang="en-US" sz="6600" dirty="0">
              <a:latin typeface="Times New Roman" panose="02020603050405020304" pitchFamily="18" charset="0"/>
              <a:cs typeface="Times New Roman" panose="02020603050405020304" pitchFamily="18" charset="0"/>
            </a:endParaRPr>
          </a:p>
        </p:txBody>
      </p:sp>
      <p:sp>
        <p:nvSpPr>
          <p:cNvPr id="3" name="Shape 1"/>
          <p:cNvSpPr/>
          <p:nvPr/>
        </p:nvSpPr>
        <p:spPr>
          <a:xfrm>
            <a:off x="793790" y="2364581"/>
            <a:ext cx="4196358" cy="2402324"/>
          </a:xfrm>
          <a:prstGeom prst="roundRect">
            <a:avLst>
              <a:gd name="adj" fmla="val 3966"/>
            </a:avLst>
          </a:prstGeom>
          <a:solidFill>
            <a:srgbClr val="DADBF1"/>
          </a:solidFill>
          <a:ln w="7620">
            <a:solidFill>
              <a:srgbClr val="C0C1D7"/>
            </a:solidFill>
            <a:prstDash val="solid"/>
          </a:ln>
        </p:spPr>
      </p:sp>
      <p:sp>
        <p:nvSpPr>
          <p:cNvPr id="4" name="Text 2"/>
          <p:cNvSpPr/>
          <p:nvPr/>
        </p:nvSpPr>
        <p:spPr>
          <a:xfrm>
            <a:off x="1028224" y="2599015"/>
            <a:ext cx="3727490" cy="708660"/>
          </a:xfrm>
          <a:prstGeom prst="rect">
            <a:avLst/>
          </a:prstGeom>
          <a:noFill/>
          <a:ln/>
        </p:spPr>
        <p:txBody>
          <a:bodyPr wrap="square" lIns="0" tIns="0" rIns="0" bIns="0" rtlCol="0" anchor="t"/>
          <a:lstStyle/>
          <a:p>
            <a:pPr marL="0" indent="0" algn="l">
              <a:lnSpc>
                <a:spcPts val="2750"/>
              </a:lnSpc>
              <a:buNone/>
            </a:pPr>
            <a:r>
              <a:rPr lang="en-US" sz="2400" b="1" dirty="0">
                <a:solidFill>
                  <a:srgbClr val="272525"/>
                </a:solidFill>
                <a:latin typeface="Times New Roman" panose="02020603050405020304" pitchFamily="18" charset="0"/>
                <a:ea typeface="Inter Bold" pitchFamily="34" charset="-122"/>
                <a:cs typeface="Times New Roman" panose="02020603050405020304" pitchFamily="18" charset="0"/>
              </a:rPr>
              <a:t>Large Language Model (LLM)</a:t>
            </a:r>
            <a:endParaRPr lang="en-US" sz="2400" dirty="0">
              <a:latin typeface="Times New Roman" panose="02020603050405020304" pitchFamily="18" charset="0"/>
              <a:cs typeface="Times New Roman" panose="02020603050405020304" pitchFamily="18" charset="0"/>
            </a:endParaRPr>
          </a:p>
        </p:txBody>
      </p:sp>
      <p:sp>
        <p:nvSpPr>
          <p:cNvPr id="5" name="Text 3"/>
          <p:cNvSpPr/>
          <p:nvPr/>
        </p:nvSpPr>
        <p:spPr>
          <a:xfrm>
            <a:off x="1028224" y="3443764"/>
            <a:ext cx="3727490" cy="1088708"/>
          </a:xfrm>
          <a:prstGeom prst="rect">
            <a:avLst/>
          </a:prstGeom>
          <a:noFill/>
          <a:ln/>
        </p:spPr>
        <p:txBody>
          <a:bodyPr wrap="square" lIns="0" tIns="0" rIns="0" bIns="0" rtlCol="0" anchor="t"/>
          <a:lstStyle/>
          <a:p>
            <a:pPr marL="0" indent="0" algn="l">
              <a:lnSpc>
                <a:spcPts val="28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Powers natural language understanding and generation, similar to GPT.</a:t>
            </a:r>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5216962" y="2364581"/>
            <a:ext cx="4196358" cy="2402324"/>
          </a:xfrm>
          <a:prstGeom prst="roundRect">
            <a:avLst>
              <a:gd name="adj" fmla="val 3966"/>
            </a:avLst>
          </a:prstGeom>
          <a:solidFill>
            <a:srgbClr val="DADBF1"/>
          </a:solidFill>
          <a:ln w="7620">
            <a:solidFill>
              <a:srgbClr val="C0C1D7"/>
            </a:solidFill>
            <a:prstDash val="solid"/>
          </a:ln>
        </p:spPr>
      </p:sp>
      <p:sp>
        <p:nvSpPr>
          <p:cNvPr id="7" name="Text 5"/>
          <p:cNvSpPr/>
          <p:nvPr/>
        </p:nvSpPr>
        <p:spPr>
          <a:xfrm>
            <a:off x="5451396" y="2599015"/>
            <a:ext cx="2835235" cy="354330"/>
          </a:xfrm>
          <a:prstGeom prst="rect">
            <a:avLst/>
          </a:prstGeom>
          <a:noFill/>
          <a:ln/>
        </p:spPr>
        <p:txBody>
          <a:bodyPr wrap="none" lIns="0" tIns="0" rIns="0" bIns="0" rtlCol="0" anchor="t"/>
          <a:lstStyle/>
          <a:p>
            <a:pPr marL="0" indent="0" algn="l">
              <a:lnSpc>
                <a:spcPts val="2750"/>
              </a:lnSpc>
              <a:buNone/>
            </a:pPr>
            <a:r>
              <a:rPr lang="en-US" sz="2400" b="1" dirty="0">
                <a:solidFill>
                  <a:srgbClr val="272525"/>
                </a:solidFill>
                <a:latin typeface="Times New Roman" panose="02020603050405020304" pitchFamily="18" charset="0"/>
                <a:ea typeface="Inter Bold" pitchFamily="34" charset="-122"/>
                <a:cs typeface="Times New Roman" panose="02020603050405020304" pitchFamily="18" charset="0"/>
              </a:rPr>
              <a:t>Langchain</a:t>
            </a:r>
            <a:endParaRPr lang="en-US" sz="2400" dirty="0">
              <a:latin typeface="Times New Roman" panose="02020603050405020304" pitchFamily="18" charset="0"/>
              <a:cs typeface="Times New Roman" panose="02020603050405020304" pitchFamily="18" charset="0"/>
            </a:endParaRPr>
          </a:p>
        </p:txBody>
      </p:sp>
      <p:sp>
        <p:nvSpPr>
          <p:cNvPr id="8" name="Text 6"/>
          <p:cNvSpPr/>
          <p:nvPr/>
        </p:nvSpPr>
        <p:spPr>
          <a:xfrm>
            <a:off x="5451396" y="3089434"/>
            <a:ext cx="3727490" cy="725805"/>
          </a:xfrm>
          <a:prstGeom prst="rect">
            <a:avLst/>
          </a:prstGeom>
          <a:noFill/>
          <a:ln/>
        </p:spPr>
        <p:txBody>
          <a:bodyPr wrap="square" lIns="0" tIns="0" rIns="0" bIns="0" rtlCol="0" anchor="t"/>
          <a:lstStyle/>
          <a:p>
            <a:pPr marL="0" indent="0" algn="l">
              <a:lnSpc>
                <a:spcPts val="28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Framework for building robust, LLM-powered applications.</a:t>
            </a:r>
            <a:endParaRPr lang="en-US" dirty="0">
              <a:latin typeface="Times New Roman" panose="02020603050405020304" pitchFamily="18" charset="0"/>
              <a:cs typeface="Times New Roman" panose="02020603050405020304" pitchFamily="18" charset="0"/>
            </a:endParaRPr>
          </a:p>
        </p:txBody>
      </p:sp>
      <p:sp>
        <p:nvSpPr>
          <p:cNvPr id="9" name="Shape 7"/>
          <p:cNvSpPr/>
          <p:nvPr/>
        </p:nvSpPr>
        <p:spPr>
          <a:xfrm>
            <a:off x="9640133" y="2364581"/>
            <a:ext cx="4196358" cy="2402324"/>
          </a:xfrm>
          <a:prstGeom prst="roundRect">
            <a:avLst>
              <a:gd name="adj" fmla="val 3966"/>
            </a:avLst>
          </a:prstGeom>
          <a:solidFill>
            <a:srgbClr val="DADBF1"/>
          </a:solidFill>
          <a:ln w="7620">
            <a:solidFill>
              <a:srgbClr val="C0C1D7"/>
            </a:solidFill>
            <a:prstDash val="solid"/>
          </a:ln>
        </p:spPr>
      </p:sp>
      <p:sp>
        <p:nvSpPr>
          <p:cNvPr id="10" name="Text 8"/>
          <p:cNvSpPr/>
          <p:nvPr/>
        </p:nvSpPr>
        <p:spPr>
          <a:xfrm>
            <a:off x="9874568" y="2599015"/>
            <a:ext cx="2835235" cy="354330"/>
          </a:xfrm>
          <a:prstGeom prst="rect">
            <a:avLst/>
          </a:prstGeom>
          <a:noFill/>
          <a:ln/>
        </p:spPr>
        <p:txBody>
          <a:bodyPr wrap="none" lIns="0" tIns="0" rIns="0" bIns="0" rtlCol="0" anchor="t"/>
          <a:lstStyle/>
          <a:p>
            <a:pPr marL="0" indent="0" algn="l">
              <a:lnSpc>
                <a:spcPts val="2750"/>
              </a:lnSpc>
              <a:buNone/>
            </a:pPr>
            <a:r>
              <a:rPr lang="en-US" sz="2400" b="1" dirty="0">
                <a:solidFill>
                  <a:srgbClr val="272525"/>
                </a:solidFill>
                <a:latin typeface="Times New Roman" panose="02020603050405020304" pitchFamily="18" charset="0"/>
                <a:ea typeface="Inter Bold" pitchFamily="34" charset="-122"/>
                <a:cs typeface="Times New Roman" panose="02020603050405020304" pitchFamily="18" charset="0"/>
              </a:rPr>
              <a:t>Puppeteer</a:t>
            </a:r>
            <a:endParaRPr lang="en-US" sz="2400" dirty="0">
              <a:latin typeface="Times New Roman" panose="02020603050405020304" pitchFamily="18" charset="0"/>
              <a:cs typeface="Times New Roman" panose="02020603050405020304" pitchFamily="18" charset="0"/>
            </a:endParaRPr>
          </a:p>
        </p:txBody>
      </p:sp>
      <p:sp>
        <p:nvSpPr>
          <p:cNvPr id="11" name="Text 9"/>
          <p:cNvSpPr/>
          <p:nvPr/>
        </p:nvSpPr>
        <p:spPr>
          <a:xfrm>
            <a:off x="9874568" y="3089434"/>
            <a:ext cx="3727490" cy="725805"/>
          </a:xfrm>
          <a:prstGeom prst="rect">
            <a:avLst/>
          </a:prstGeom>
          <a:noFill/>
          <a:ln/>
        </p:spPr>
        <p:txBody>
          <a:bodyPr wrap="square" lIns="0" tIns="0" rIns="0" bIns="0" rtlCol="0" anchor="t"/>
          <a:lstStyle/>
          <a:p>
            <a:pPr marL="0" indent="0" algn="l">
              <a:lnSpc>
                <a:spcPts val="28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Automates browser interactions and web scraping tasks.</a:t>
            </a:r>
            <a:endParaRPr lang="en-US" dirty="0">
              <a:latin typeface="Times New Roman" panose="02020603050405020304" pitchFamily="18" charset="0"/>
              <a:cs typeface="Times New Roman" panose="02020603050405020304" pitchFamily="18" charset="0"/>
            </a:endParaRPr>
          </a:p>
        </p:txBody>
      </p:sp>
      <p:sp>
        <p:nvSpPr>
          <p:cNvPr id="12" name="Shape 10"/>
          <p:cNvSpPr/>
          <p:nvPr/>
        </p:nvSpPr>
        <p:spPr>
          <a:xfrm>
            <a:off x="793790" y="4993719"/>
            <a:ext cx="6407944" cy="1685092"/>
          </a:xfrm>
          <a:prstGeom prst="roundRect">
            <a:avLst>
              <a:gd name="adj" fmla="val 5654"/>
            </a:avLst>
          </a:prstGeom>
          <a:solidFill>
            <a:srgbClr val="DADBF1"/>
          </a:solidFill>
          <a:ln w="7620">
            <a:solidFill>
              <a:srgbClr val="C0C1D7"/>
            </a:solidFill>
            <a:prstDash val="solid"/>
          </a:ln>
        </p:spPr>
      </p:sp>
      <p:sp>
        <p:nvSpPr>
          <p:cNvPr id="13" name="Text 11"/>
          <p:cNvSpPr/>
          <p:nvPr/>
        </p:nvSpPr>
        <p:spPr>
          <a:xfrm>
            <a:off x="1028224" y="5228153"/>
            <a:ext cx="2983468" cy="354330"/>
          </a:xfrm>
          <a:prstGeom prst="rect">
            <a:avLst/>
          </a:prstGeom>
          <a:noFill/>
          <a:ln/>
        </p:spPr>
        <p:txBody>
          <a:bodyPr wrap="none" lIns="0" tIns="0" rIns="0" bIns="0" rtlCol="0" anchor="t"/>
          <a:lstStyle/>
          <a:p>
            <a:pPr marL="0" indent="0" algn="l">
              <a:lnSpc>
                <a:spcPts val="2750"/>
              </a:lnSpc>
              <a:buNone/>
            </a:pPr>
            <a:r>
              <a:rPr lang="en-US" sz="2400" b="1" dirty="0">
                <a:solidFill>
                  <a:srgbClr val="272525"/>
                </a:solidFill>
                <a:latin typeface="Times New Roman" panose="02020603050405020304" pitchFamily="18" charset="0"/>
                <a:ea typeface="Inter Bold" pitchFamily="34" charset="-122"/>
                <a:cs typeface="Times New Roman" panose="02020603050405020304" pitchFamily="18" charset="0"/>
              </a:rPr>
              <a:t>Chrome DevTools API</a:t>
            </a:r>
            <a:endParaRPr lang="en-US" sz="2400" dirty="0">
              <a:latin typeface="Times New Roman" panose="02020603050405020304" pitchFamily="18" charset="0"/>
              <a:cs typeface="Times New Roman" panose="02020603050405020304" pitchFamily="18" charset="0"/>
            </a:endParaRPr>
          </a:p>
        </p:txBody>
      </p:sp>
      <p:sp>
        <p:nvSpPr>
          <p:cNvPr id="14" name="Text 12"/>
          <p:cNvSpPr/>
          <p:nvPr/>
        </p:nvSpPr>
        <p:spPr>
          <a:xfrm>
            <a:off x="1028224" y="5718572"/>
            <a:ext cx="5939076" cy="725805"/>
          </a:xfrm>
          <a:prstGeom prst="rect">
            <a:avLst/>
          </a:prstGeom>
          <a:noFill/>
          <a:ln/>
        </p:spPr>
        <p:txBody>
          <a:bodyPr wrap="square" lIns="0" tIns="0" rIns="0" bIns="0" rtlCol="0" anchor="t"/>
          <a:lstStyle/>
          <a:p>
            <a:pPr marL="0" indent="0" algn="l">
              <a:lnSpc>
                <a:spcPts val="28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Enables deep interaction with Chrome browser internals.</a:t>
            </a:r>
            <a:endParaRPr lang="en-US" dirty="0">
              <a:latin typeface="Times New Roman" panose="02020603050405020304" pitchFamily="18" charset="0"/>
              <a:cs typeface="Times New Roman" panose="02020603050405020304" pitchFamily="18" charset="0"/>
            </a:endParaRPr>
          </a:p>
        </p:txBody>
      </p:sp>
      <p:sp>
        <p:nvSpPr>
          <p:cNvPr id="15" name="Shape 13"/>
          <p:cNvSpPr/>
          <p:nvPr/>
        </p:nvSpPr>
        <p:spPr>
          <a:xfrm>
            <a:off x="7428548" y="4993719"/>
            <a:ext cx="6407944" cy="1685092"/>
          </a:xfrm>
          <a:prstGeom prst="roundRect">
            <a:avLst>
              <a:gd name="adj" fmla="val 5654"/>
            </a:avLst>
          </a:prstGeom>
          <a:solidFill>
            <a:srgbClr val="DADBF1"/>
          </a:solidFill>
          <a:ln w="7620">
            <a:solidFill>
              <a:srgbClr val="C0C1D7"/>
            </a:solidFill>
            <a:prstDash val="solid"/>
          </a:ln>
        </p:spPr>
      </p:sp>
      <p:sp>
        <p:nvSpPr>
          <p:cNvPr id="16" name="Text 14"/>
          <p:cNvSpPr/>
          <p:nvPr/>
        </p:nvSpPr>
        <p:spPr>
          <a:xfrm>
            <a:off x="7662982" y="5228153"/>
            <a:ext cx="2835235" cy="354330"/>
          </a:xfrm>
          <a:prstGeom prst="rect">
            <a:avLst/>
          </a:prstGeom>
          <a:noFill/>
          <a:ln/>
        </p:spPr>
        <p:txBody>
          <a:bodyPr wrap="none" lIns="0" tIns="0" rIns="0" bIns="0" rtlCol="0" anchor="t"/>
          <a:lstStyle/>
          <a:p>
            <a:pPr marL="0" indent="0" algn="l">
              <a:lnSpc>
                <a:spcPts val="2750"/>
              </a:lnSpc>
              <a:buNone/>
            </a:pPr>
            <a:r>
              <a:rPr lang="en-US" sz="2400" b="1" dirty="0">
                <a:solidFill>
                  <a:srgbClr val="272525"/>
                </a:solidFill>
                <a:latin typeface="Times New Roman" panose="02020603050405020304" pitchFamily="18" charset="0"/>
                <a:ea typeface="Inter Bold" pitchFamily="34" charset="-122"/>
                <a:cs typeface="Times New Roman" panose="02020603050405020304" pitchFamily="18" charset="0"/>
              </a:rPr>
              <a:t>MongoDB</a:t>
            </a:r>
            <a:endParaRPr lang="en-US" sz="2400" dirty="0">
              <a:latin typeface="Times New Roman" panose="02020603050405020304" pitchFamily="18" charset="0"/>
              <a:cs typeface="Times New Roman" panose="02020603050405020304" pitchFamily="18" charset="0"/>
            </a:endParaRPr>
          </a:p>
        </p:txBody>
      </p:sp>
      <p:sp>
        <p:nvSpPr>
          <p:cNvPr id="17" name="Text 15"/>
          <p:cNvSpPr/>
          <p:nvPr/>
        </p:nvSpPr>
        <p:spPr>
          <a:xfrm>
            <a:off x="7662982" y="5718572"/>
            <a:ext cx="5939076" cy="362903"/>
          </a:xfrm>
          <a:prstGeom prst="rect">
            <a:avLst/>
          </a:prstGeom>
          <a:noFill/>
          <a:ln/>
        </p:spPr>
        <p:txBody>
          <a:bodyPr wrap="none" lIns="0" tIns="0" rIns="0" bIns="0" rtlCol="0" anchor="t"/>
          <a:lstStyle/>
          <a:p>
            <a:pPr marL="0" indent="0" algn="l">
              <a:lnSpc>
                <a:spcPts val="28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NoSQL database for flexible and scalable data storage.</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793790" y="6933962"/>
            <a:ext cx="13042821" cy="362903"/>
          </a:xfrm>
          <a:prstGeom prst="rect">
            <a:avLst/>
          </a:prstGeom>
          <a:noFill/>
          <a:ln/>
        </p:spPr>
        <p:txBody>
          <a:bodyPr wrap="none" lIns="0" tIns="0" rIns="0" bIns="0" rtlCol="0" anchor="t"/>
          <a:lstStyle/>
          <a:p>
            <a:pPr marL="0" indent="0" algn="l">
              <a:lnSpc>
                <a:spcPts val="285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This advanced stack ensures OverSeer.AI is powerful, flexible, and highly responsive.</a:t>
            </a:r>
            <a:endParaRPr lang="en-US"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7FF2D4B4-9C21-4B97-241C-4776694B2B58}"/>
              </a:ext>
            </a:extLst>
          </p:cNvPr>
          <p:cNvPicPr>
            <a:picLocks noChangeAspect="1"/>
          </p:cNvPicPr>
          <p:nvPr/>
        </p:nvPicPr>
        <p:blipFill>
          <a:blip r:embed="rId3"/>
          <a:stretch>
            <a:fillRect/>
          </a:stretch>
        </p:blipFill>
        <p:spPr>
          <a:xfrm>
            <a:off x="10280426" y="7296865"/>
            <a:ext cx="4349974" cy="8763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49367"/>
            <a:ext cx="6147673" cy="620078"/>
          </a:xfrm>
          <a:prstGeom prst="rect">
            <a:avLst/>
          </a:prstGeom>
          <a:noFill/>
          <a:ln/>
        </p:spPr>
        <p:txBody>
          <a:bodyPr wrap="none" lIns="0" tIns="0" rIns="0" bIns="0" rtlCol="0" anchor="t"/>
          <a:lstStyle/>
          <a:p>
            <a:pPr marL="0" indent="0" algn="l">
              <a:lnSpc>
                <a:spcPts val="4850"/>
              </a:lnSpc>
              <a:buNone/>
            </a:pPr>
            <a:r>
              <a:rPr lang="en-US" sz="4800" b="1" dirty="0">
                <a:solidFill>
                  <a:srgbClr val="000000"/>
                </a:solidFill>
                <a:latin typeface="Times New Roman" panose="02020603050405020304" pitchFamily="18" charset="0"/>
                <a:ea typeface="Inter Bold" pitchFamily="34" charset="-122"/>
                <a:cs typeface="Times New Roman" panose="02020603050405020304" pitchFamily="18" charset="0"/>
              </a:rPr>
              <a:t>OverSeer.AI In Simple Terms</a:t>
            </a:r>
            <a:endParaRPr lang="en-US" sz="4800" dirty="0">
              <a:latin typeface="Times New Roman" panose="02020603050405020304" pitchFamily="18" charset="0"/>
              <a:cs typeface="Times New Roman" panose="02020603050405020304" pitchFamily="18" charset="0"/>
            </a:endParaRPr>
          </a:p>
        </p:txBody>
      </p:sp>
      <p:sp>
        <p:nvSpPr>
          <p:cNvPr id="3" name="Text 1"/>
          <p:cNvSpPr/>
          <p:nvPr/>
        </p:nvSpPr>
        <p:spPr>
          <a:xfrm>
            <a:off x="249260" y="1673233"/>
            <a:ext cx="13042821" cy="317540"/>
          </a:xfrm>
          <a:prstGeom prst="rect">
            <a:avLst/>
          </a:prstGeom>
          <a:noFill/>
          <a:ln/>
        </p:spPr>
        <p:txBody>
          <a:bodyPr wrap="none" lIns="0" tIns="0" rIns="0" bIns="0" rtlCol="0" anchor="t"/>
          <a:lstStyle/>
          <a:p>
            <a:pPr marL="0" indent="0" algn="just">
              <a:lnSpc>
                <a:spcPts val="2500"/>
              </a:lnSpc>
              <a:buNone/>
            </a:pPr>
            <a:r>
              <a:rPr lang="en-US" sz="2400" dirty="0">
                <a:solidFill>
                  <a:srgbClr val="272525"/>
                </a:solidFill>
                <a:latin typeface="Times New Roman" panose="02020603050405020304" pitchFamily="18" charset="0"/>
                <a:ea typeface="Inter" pitchFamily="34" charset="-122"/>
                <a:cs typeface="Times New Roman" panose="02020603050405020304" pitchFamily="18" charset="0"/>
              </a:rPr>
              <a:t>Think of OverSeer.AI as having a very smart, invisible productivity partner that lives right inside your web browser.</a:t>
            </a:r>
            <a:endParaRPr lang="en-US" sz="2400" dirty="0">
              <a:latin typeface="Times New Roman" panose="02020603050405020304" pitchFamily="18" charset="0"/>
              <a:cs typeface="Times New Roman" panose="02020603050405020304" pitchFamily="18" charset="0"/>
            </a:endParaRPr>
          </a:p>
        </p:txBody>
      </p:sp>
      <p:sp>
        <p:nvSpPr>
          <p:cNvPr id="4" name="Text 2"/>
          <p:cNvSpPr/>
          <p:nvPr/>
        </p:nvSpPr>
        <p:spPr>
          <a:xfrm>
            <a:off x="793790" y="2385655"/>
            <a:ext cx="7632025" cy="952619"/>
          </a:xfrm>
          <a:prstGeom prst="rect">
            <a:avLst/>
          </a:prstGeom>
          <a:noFill/>
          <a:ln/>
        </p:spPr>
        <p:txBody>
          <a:bodyPr wrap="square" lIns="0" tIns="0" rIns="0" bIns="0" rtlCol="0" anchor="t"/>
          <a:lstStyle/>
          <a:p>
            <a:pPr marL="0" indent="0" algn="just">
              <a:lnSpc>
                <a:spcPts val="2500"/>
              </a:lnSpc>
              <a:buNone/>
            </a:pPr>
            <a:r>
              <a:rPr lang="en-US" sz="2400" dirty="0">
                <a:solidFill>
                  <a:srgbClr val="272525"/>
                </a:solidFill>
                <a:latin typeface="Times New Roman" panose="02020603050405020304" pitchFamily="18" charset="0"/>
                <a:ea typeface="Inter" pitchFamily="34" charset="-122"/>
                <a:cs typeface="Times New Roman" panose="02020603050405020304" pitchFamily="18" charset="0"/>
              </a:rPr>
              <a:t>It securely observes your digital activities—your browsing, emails, and app usage—to understand your daily tasks and routines. Instead of you having to manually summarise long emails, draft replies, or keep track of bugs, OverSeer.AI steps in.</a:t>
            </a:r>
            <a:endParaRPr lang="en-US" sz="2400" dirty="0">
              <a:latin typeface="Times New Roman" panose="02020603050405020304" pitchFamily="18" charset="0"/>
              <a:cs typeface="Times New Roman" panose="02020603050405020304" pitchFamily="18" charset="0"/>
            </a:endParaRPr>
          </a:p>
        </p:txBody>
      </p:sp>
      <p:sp>
        <p:nvSpPr>
          <p:cNvPr id="5" name="Text 3"/>
          <p:cNvSpPr/>
          <p:nvPr/>
        </p:nvSpPr>
        <p:spPr>
          <a:xfrm>
            <a:off x="786289" y="4463391"/>
            <a:ext cx="7632025" cy="1270159"/>
          </a:xfrm>
          <a:prstGeom prst="rect">
            <a:avLst/>
          </a:prstGeom>
          <a:noFill/>
          <a:ln/>
        </p:spPr>
        <p:txBody>
          <a:bodyPr wrap="square" lIns="0" tIns="0" rIns="0" bIns="0" rtlCol="0" anchor="t"/>
          <a:lstStyle/>
          <a:p>
            <a:pPr marL="0" indent="0" algn="just">
              <a:lnSpc>
                <a:spcPts val="2500"/>
              </a:lnSpc>
              <a:buNone/>
            </a:pPr>
            <a:r>
              <a:rPr lang="en-US" sz="2400" dirty="0">
                <a:solidFill>
                  <a:srgbClr val="272525"/>
                </a:solidFill>
                <a:latin typeface="Times New Roman" panose="02020603050405020304" pitchFamily="18" charset="0"/>
                <a:ea typeface="Inter" pitchFamily="34" charset="-122"/>
                <a:cs typeface="Times New Roman" panose="02020603050405020304" pitchFamily="18" charset="0"/>
              </a:rPr>
              <a:t>It proactively helps you save time by automating these mundane tasks, suggesting relevant actions, and learning from your behaviour to become more efficient over time. It's like having an executive assistant that knows exactly what you need before you even ask.</a:t>
            </a:r>
            <a:endParaRPr lang="en-US" sz="2400" dirty="0">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stretch>
            <a:fillRect/>
          </a:stretch>
        </p:blipFill>
        <p:spPr>
          <a:xfrm>
            <a:off x="8917543" y="2430304"/>
            <a:ext cx="4926568" cy="4926568"/>
          </a:xfrm>
          <a:prstGeom prst="rect">
            <a:avLst/>
          </a:prstGeom>
        </p:spPr>
      </p:pic>
      <p:pic>
        <p:nvPicPr>
          <p:cNvPr id="7" name="Picture 6">
            <a:extLst>
              <a:ext uri="{FF2B5EF4-FFF2-40B4-BE49-F238E27FC236}">
                <a16:creationId xmlns:a16="http://schemas.microsoft.com/office/drawing/2014/main" id="{29299340-E52D-4454-9CFA-15C3FD41B3F3}"/>
              </a:ext>
            </a:extLst>
          </p:cNvPr>
          <p:cNvPicPr>
            <a:picLocks noChangeAspect="1"/>
          </p:cNvPicPr>
          <p:nvPr/>
        </p:nvPicPr>
        <p:blipFill>
          <a:blip r:embed="rId4"/>
          <a:stretch>
            <a:fillRect/>
          </a:stretch>
        </p:blipFill>
        <p:spPr>
          <a:xfrm>
            <a:off x="10280426" y="7296389"/>
            <a:ext cx="4349974" cy="8763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873568"/>
            <a:ext cx="10337244" cy="620078"/>
          </a:xfrm>
          <a:prstGeom prst="rect">
            <a:avLst/>
          </a:prstGeom>
          <a:noFill/>
          <a:ln/>
        </p:spPr>
        <p:txBody>
          <a:bodyPr wrap="none" lIns="0" tIns="0" rIns="0" bIns="0" rtlCol="0" anchor="t"/>
          <a:lstStyle/>
          <a:p>
            <a:pPr marL="0" indent="0" algn="just">
              <a:lnSpc>
                <a:spcPts val="4850"/>
              </a:lnSpc>
              <a:buNone/>
            </a:pPr>
            <a:r>
              <a:rPr lang="en-US" sz="3900" b="1" dirty="0">
                <a:solidFill>
                  <a:srgbClr val="000000"/>
                </a:solidFill>
                <a:latin typeface="Times New Roman" panose="02020603050405020304" pitchFamily="18" charset="0"/>
                <a:ea typeface="Inter Bold" pitchFamily="34" charset="-122"/>
                <a:cs typeface="Times New Roman" panose="02020603050405020304" pitchFamily="18" charset="0"/>
              </a:rPr>
              <a:t>The Benefits of an AI-Powered Digital Twin</a:t>
            </a:r>
            <a:endParaRPr lang="en-US" sz="39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890480"/>
            <a:ext cx="13042821" cy="317540"/>
          </a:xfrm>
          <a:prstGeom prst="rect">
            <a:avLst/>
          </a:prstGeom>
          <a:noFill/>
          <a:ln/>
        </p:spPr>
        <p:txBody>
          <a:bodyPr wrap="none" lIns="0" tIns="0" rIns="0" bIns="0" rtlCol="0" anchor="t"/>
          <a:lstStyle/>
          <a:p>
            <a:pPr marL="0" indent="0" algn="just">
              <a:lnSpc>
                <a:spcPts val="250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Implementing OverSeer.AI translates directly into tangible benefits for your personal and professional digital life.</a:t>
            </a:r>
            <a:endParaRPr lang="en-US" dirty="0">
              <a:latin typeface="Times New Roman" panose="02020603050405020304" pitchFamily="18" charset="0"/>
              <a:cs typeface="Times New Roman" panose="02020603050405020304" pitchFamily="18" charset="0"/>
            </a:endParaRPr>
          </a:p>
        </p:txBody>
      </p:sp>
      <p:sp>
        <p:nvSpPr>
          <p:cNvPr id="4" name="Text 2"/>
          <p:cNvSpPr/>
          <p:nvPr/>
        </p:nvSpPr>
        <p:spPr>
          <a:xfrm>
            <a:off x="793790" y="3530441"/>
            <a:ext cx="4182189"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Times New Roman" panose="02020603050405020304" pitchFamily="18" charset="0"/>
                <a:ea typeface="Inter Bold" pitchFamily="34" charset="-122"/>
                <a:cs typeface="Times New Roman" panose="02020603050405020304" pitchFamily="18" charset="0"/>
              </a:rPr>
              <a:t>40%</a:t>
            </a:r>
            <a:endParaRPr lang="en-US" sz="5150" dirty="0">
              <a:latin typeface="Times New Roman" panose="02020603050405020304" pitchFamily="18" charset="0"/>
              <a:cs typeface="Times New Roman" panose="02020603050405020304" pitchFamily="18" charset="0"/>
            </a:endParaRPr>
          </a:p>
        </p:txBody>
      </p:sp>
      <p:sp>
        <p:nvSpPr>
          <p:cNvPr id="5" name="Text 3"/>
          <p:cNvSpPr/>
          <p:nvPr/>
        </p:nvSpPr>
        <p:spPr>
          <a:xfrm>
            <a:off x="1644372" y="4433411"/>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Times New Roman" panose="02020603050405020304" pitchFamily="18" charset="0"/>
                <a:ea typeface="Inter Bold" pitchFamily="34" charset="-122"/>
                <a:cs typeface="Times New Roman" panose="02020603050405020304" pitchFamily="18" charset="0"/>
              </a:rPr>
              <a:t>Time Saved</a:t>
            </a:r>
            <a:endParaRPr lang="en-US" sz="1950" dirty="0">
              <a:latin typeface="Times New Roman" panose="02020603050405020304" pitchFamily="18" charset="0"/>
              <a:cs typeface="Times New Roman" panose="02020603050405020304" pitchFamily="18" charset="0"/>
            </a:endParaRPr>
          </a:p>
        </p:txBody>
      </p:sp>
      <p:sp>
        <p:nvSpPr>
          <p:cNvPr id="6" name="Text 4"/>
          <p:cNvSpPr/>
          <p:nvPr/>
        </p:nvSpPr>
        <p:spPr>
          <a:xfrm>
            <a:off x="793790" y="4862632"/>
            <a:ext cx="4182189" cy="952619"/>
          </a:xfrm>
          <a:prstGeom prst="rect">
            <a:avLst/>
          </a:prstGeom>
          <a:noFill/>
          <a:ln/>
        </p:spPr>
        <p:txBody>
          <a:bodyPr wrap="square" lIns="0" tIns="0" rIns="0" bIns="0" rtlCol="0" anchor="t"/>
          <a:lstStyle/>
          <a:p>
            <a:pPr marL="0" indent="0" algn="just">
              <a:lnSpc>
                <a:spcPts val="250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Reduce hours spent on repetitive digital tasks, freeing up your schedule for more impactful work.</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5223986" y="3530441"/>
            <a:ext cx="4182308"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Times New Roman" panose="02020603050405020304" pitchFamily="18" charset="0"/>
                <a:ea typeface="Inter Bold" pitchFamily="34" charset="-122"/>
                <a:cs typeface="Times New Roman" panose="02020603050405020304" pitchFamily="18" charset="0"/>
              </a:rPr>
              <a:t>25%</a:t>
            </a:r>
            <a:endParaRPr lang="en-US" sz="5150" dirty="0">
              <a:latin typeface="Times New Roman" panose="02020603050405020304" pitchFamily="18" charset="0"/>
              <a:cs typeface="Times New Roman" panose="02020603050405020304" pitchFamily="18" charset="0"/>
            </a:endParaRPr>
          </a:p>
        </p:txBody>
      </p:sp>
      <p:sp>
        <p:nvSpPr>
          <p:cNvPr id="8" name="Text 6"/>
          <p:cNvSpPr/>
          <p:nvPr/>
        </p:nvSpPr>
        <p:spPr>
          <a:xfrm>
            <a:off x="6074688" y="4433411"/>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Times New Roman" panose="02020603050405020304" pitchFamily="18" charset="0"/>
                <a:ea typeface="Inter Bold" pitchFamily="34" charset="-122"/>
                <a:cs typeface="Times New Roman" panose="02020603050405020304" pitchFamily="18" charset="0"/>
              </a:rPr>
              <a:t>Productivity Boost</a:t>
            </a:r>
            <a:endParaRPr lang="en-US" sz="1950" dirty="0">
              <a:latin typeface="Times New Roman" panose="02020603050405020304" pitchFamily="18" charset="0"/>
              <a:cs typeface="Times New Roman" panose="02020603050405020304" pitchFamily="18" charset="0"/>
            </a:endParaRPr>
          </a:p>
        </p:txBody>
      </p:sp>
      <p:sp>
        <p:nvSpPr>
          <p:cNvPr id="9" name="Text 7"/>
          <p:cNvSpPr/>
          <p:nvPr/>
        </p:nvSpPr>
        <p:spPr>
          <a:xfrm>
            <a:off x="5223986" y="4862632"/>
            <a:ext cx="4182308" cy="952619"/>
          </a:xfrm>
          <a:prstGeom prst="rect">
            <a:avLst/>
          </a:prstGeom>
          <a:noFill/>
          <a:ln/>
        </p:spPr>
        <p:txBody>
          <a:bodyPr wrap="square" lIns="0" tIns="0" rIns="0" bIns="0" rtlCol="0" anchor="t"/>
          <a:lstStyle/>
          <a:p>
            <a:pPr marL="0" indent="0" algn="just">
              <a:lnSpc>
                <a:spcPts val="250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Enhance focus and efficiency by eliminating distractions and automating workflow bottlenecks.</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9654302" y="3530441"/>
            <a:ext cx="4182308"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Times New Roman" panose="02020603050405020304" pitchFamily="18" charset="0"/>
                <a:ea typeface="Inter Bold" pitchFamily="34" charset="-122"/>
                <a:cs typeface="Times New Roman" panose="02020603050405020304" pitchFamily="18" charset="0"/>
              </a:rPr>
              <a:t>100%</a:t>
            </a:r>
            <a:endParaRPr lang="en-US" sz="5150" dirty="0">
              <a:latin typeface="Times New Roman" panose="02020603050405020304" pitchFamily="18" charset="0"/>
              <a:cs typeface="Times New Roman" panose="02020603050405020304" pitchFamily="18" charset="0"/>
            </a:endParaRPr>
          </a:p>
        </p:txBody>
      </p:sp>
      <p:sp>
        <p:nvSpPr>
          <p:cNvPr id="11" name="Text 9"/>
          <p:cNvSpPr/>
          <p:nvPr/>
        </p:nvSpPr>
        <p:spPr>
          <a:xfrm>
            <a:off x="10505003" y="4433411"/>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Times New Roman" panose="02020603050405020304" pitchFamily="18" charset="0"/>
                <a:ea typeface="Inter Bold" pitchFamily="34" charset="-122"/>
                <a:cs typeface="Times New Roman" panose="02020603050405020304" pitchFamily="18" charset="0"/>
              </a:rPr>
              <a:t>Personalised</a:t>
            </a:r>
            <a:endParaRPr lang="en-US" sz="1950" dirty="0">
              <a:latin typeface="Times New Roman" panose="02020603050405020304" pitchFamily="18" charset="0"/>
              <a:cs typeface="Times New Roman" panose="02020603050405020304" pitchFamily="18" charset="0"/>
            </a:endParaRPr>
          </a:p>
        </p:txBody>
      </p:sp>
      <p:sp>
        <p:nvSpPr>
          <p:cNvPr id="12" name="Text 10"/>
          <p:cNvSpPr/>
          <p:nvPr/>
        </p:nvSpPr>
        <p:spPr>
          <a:xfrm>
            <a:off x="9654302" y="4862632"/>
            <a:ext cx="4182308" cy="952619"/>
          </a:xfrm>
          <a:prstGeom prst="rect">
            <a:avLst/>
          </a:prstGeom>
          <a:noFill/>
          <a:ln/>
        </p:spPr>
        <p:txBody>
          <a:bodyPr wrap="square" lIns="0" tIns="0" rIns="0" bIns="0" rtlCol="0" anchor="t"/>
          <a:lstStyle/>
          <a:p>
            <a:pPr marL="0" indent="0" algn="just">
              <a:lnSpc>
                <a:spcPts val="2500"/>
              </a:lnSpc>
              <a:buNone/>
            </a:pPr>
            <a:r>
              <a:rPr lang="en-US" dirty="0">
                <a:solidFill>
                  <a:srgbClr val="272525"/>
                </a:solidFill>
                <a:latin typeface="Times New Roman" panose="02020603050405020304" pitchFamily="18" charset="0"/>
                <a:ea typeface="Inter" pitchFamily="34" charset="-122"/>
                <a:cs typeface="Times New Roman" panose="02020603050405020304" pitchFamily="18" charset="0"/>
              </a:rPr>
              <a:t>An AI that adapts solely to your unique habits, ensuring truly relevant and effective assistance.</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793790" y="6174939"/>
            <a:ext cx="13042821" cy="317540"/>
          </a:xfrm>
          <a:prstGeom prst="rect">
            <a:avLst/>
          </a:prstGeom>
          <a:noFill/>
          <a:ln/>
        </p:spPr>
        <p:txBody>
          <a:bodyPr wrap="none" lIns="0" tIns="0" rIns="0" bIns="0" rtlCol="0" anchor="t"/>
          <a:lstStyle/>
          <a:p>
            <a:pPr marL="0" indent="0">
              <a:lnSpc>
                <a:spcPts val="250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Experience a new era of productivity where your digital life works for you.</a:t>
            </a:r>
            <a:endParaRPr lang="en-US" sz="20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BAB6722D-1C3B-9921-C710-3286C631BDB0}"/>
              </a:ext>
            </a:extLst>
          </p:cNvPr>
          <p:cNvPicPr>
            <a:picLocks noChangeAspect="1"/>
          </p:cNvPicPr>
          <p:nvPr/>
        </p:nvPicPr>
        <p:blipFill>
          <a:blip r:embed="rId3"/>
          <a:stretch>
            <a:fillRect/>
          </a:stretch>
        </p:blipFill>
        <p:spPr>
          <a:xfrm>
            <a:off x="10280426" y="7296389"/>
            <a:ext cx="4349974" cy="87634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586</Words>
  <Application>Microsoft Office PowerPoint</Application>
  <PresentationFormat>Custom</PresentationFormat>
  <Paragraphs>69</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Bahnschrift</vt:lpstr>
      <vt:lpstr>Inter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yeshwanth sunkara</dc:creator>
  <cp:lastModifiedBy>yeshwanth sunkara</cp:lastModifiedBy>
  <cp:revision>23</cp:revision>
  <dcterms:created xsi:type="dcterms:W3CDTF">2025-07-30T04:55:26Z</dcterms:created>
  <dcterms:modified xsi:type="dcterms:W3CDTF">2025-08-06T09:01:58Z</dcterms:modified>
</cp:coreProperties>
</file>